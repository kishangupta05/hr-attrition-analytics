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HR</c:v>
                </c:pt>
                <c:pt idx="2">
                  <c:v>R&amp;D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20.63</c:v>
                </c:pt>
                <c:pt idx="1">
                  <c:v>19.05</c:v>
                </c:pt>
                <c:pt idx="2">
                  <c:v>13.84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05-46AB-8351-FDDE45144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Overtime: Yes</c:v>
                </c:pt>
                <c:pt idx="1">
                  <c:v>Overtime: 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30.53</c:v>
                </c:pt>
                <c:pt idx="1">
                  <c:v>10.44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60-41BA-B09B-D516CA0602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satisfaction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Score 1</c:v>
                </c:pt>
                <c:pt idx="1">
                  <c:v>Score 2</c:v>
                </c:pt>
                <c:pt idx="2">
                  <c:v>Score 3</c:v>
                </c:pt>
                <c:pt idx="3">
                  <c:v>Score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22.84</c:v>
                </c:pt>
                <c:pt idx="1">
                  <c:v>16.43</c:v>
                </c:pt>
                <c:pt idx="2">
                  <c:v>16.52</c:v>
                </c:pt>
                <c:pt idx="3">
                  <c:v>11.33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1E-4BD6-8201-68ABB61FC6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Work-life balance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Score 1</c:v>
                </c:pt>
                <c:pt idx="1">
                  <c:v>Score 2</c:v>
                </c:pt>
                <c:pt idx="2">
                  <c:v>Score 3</c:v>
                </c:pt>
                <c:pt idx="3">
                  <c:v>Score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31.25</c:v>
                </c:pt>
                <c:pt idx="1">
                  <c:v>16.86</c:v>
                </c:pt>
                <c:pt idx="2">
                  <c:v>14.22</c:v>
                </c:pt>
                <c:pt idx="3">
                  <c:v>17.649999999999999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1E-4BD6-8201-68ABB61FC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invertIfNegative val="1"/>
          <c:cat>
            <c:strRef>
              <c:f>Sheet1!$A$2:$A$10</c:f>
              <c:strCache>
                <c:ptCount val="9"/>
                <c:pt idx="0">
                  <c:v>Sales Rep</c:v>
                </c:pt>
                <c:pt idx="1">
                  <c:v>Lab Technician</c:v>
                </c:pt>
                <c:pt idx="2">
                  <c:v>Human Resources</c:v>
                </c:pt>
                <c:pt idx="3">
                  <c:v>Sales Executive</c:v>
                </c:pt>
                <c:pt idx="4">
                  <c:v>Research Scientist</c:v>
                </c:pt>
                <c:pt idx="5">
                  <c:v>Mfg Director</c:v>
                </c:pt>
                <c:pt idx="6">
                  <c:v>Healthcare Rep</c:v>
                </c:pt>
                <c:pt idx="7">
                  <c:v>Manager</c:v>
                </c:pt>
                <c:pt idx="8">
                  <c:v>Research Director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39.76</c:v>
                </c:pt>
                <c:pt idx="1">
                  <c:v>23.94</c:v>
                </c:pt>
                <c:pt idx="2">
                  <c:v>23.08</c:v>
                </c:pt>
                <c:pt idx="3">
                  <c:v>17.48</c:v>
                </c:pt>
                <c:pt idx="4">
                  <c:v>16.100000000000001</c:v>
                </c:pt>
                <c:pt idx="5">
                  <c:v>6.9</c:v>
                </c:pt>
                <c:pt idx="6">
                  <c:v>6.87</c:v>
                </c:pt>
                <c:pt idx="7">
                  <c:v>4.9000000000000004</c:v>
                </c:pt>
                <c:pt idx="8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3D-4613-AB38-21A361CD89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56–60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35.770000000000003</c:v>
                </c:pt>
                <c:pt idx="1">
                  <c:v>19.14</c:v>
                </c:pt>
                <c:pt idx="2">
                  <c:v>9.19</c:v>
                </c:pt>
                <c:pt idx="3">
                  <c:v>11.5</c:v>
                </c:pt>
                <c:pt idx="4">
                  <c:v>17.02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4E-43F0-B7DD-15EFF2628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0–1</c:v>
                </c:pt>
                <c:pt idx="1">
                  <c:v>2–3</c:v>
                </c:pt>
                <c:pt idx="2">
                  <c:v>4–5</c:v>
                </c:pt>
                <c:pt idx="3">
                  <c:v>6–10</c:v>
                </c:pt>
                <c:pt idx="4">
                  <c:v>11–20</c:v>
                </c:pt>
                <c:pt idx="5">
                  <c:v>20+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34.880000000000003</c:v>
                </c:pt>
                <c:pt idx="1">
                  <c:v>18.43</c:v>
                </c:pt>
                <c:pt idx="2">
                  <c:v>13.07</c:v>
                </c:pt>
                <c:pt idx="3">
                  <c:v>12.28</c:v>
                </c:pt>
                <c:pt idx="4">
                  <c:v>6.67</c:v>
                </c:pt>
                <c:pt idx="5">
                  <c:v>12.12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32-47A1-A789-46786552B4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income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6832.74</c:v>
                </c:pt>
                <c:pt idx="1">
                  <c:v>4787.09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C2-47AC-9085-63E25C8A37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income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5204</c:v>
                </c:pt>
                <c:pt idx="1">
                  <c:v>3202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C2-47AC-9085-63E25C8A37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 overtime (%)</c:v>
                </c:pt>
              </c:strCache>
            </c:strRef>
          </c:tx>
          <c:invertIfNegative val="1"/>
          <c:cat>
            <c:strRef>
              <c:f>Sheet1!$A$2:$A$10</c:f>
              <c:strCache>
                <c:ptCount val="9"/>
                <c:pt idx="0">
                  <c:v>HR</c:v>
                </c:pt>
                <c:pt idx="1">
                  <c:v>Lab Tech</c:v>
                </c:pt>
                <c:pt idx="2">
                  <c:v>Manager</c:v>
                </c:pt>
                <c:pt idx="3">
                  <c:v>Mfg Director</c:v>
                </c:pt>
                <c:pt idx="4">
                  <c:v>Research Director</c:v>
                </c:pt>
                <c:pt idx="5">
                  <c:v>Research Scientist</c:v>
                </c:pt>
                <c:pt idx="6">
                  <c:v>Sales Executive</c:v>
                </c:pt>
                <c:pt idx="7">
                  <c:v>Sales Rep</c:v>
                </c:pt>
                <c:pt idx="8">
                  <c:v>Healthcare Rep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17.95</c:v>
                </c:pt>
                <c:pt idx="1">
                  <c:v>15.74</c:v>
                </c:pt>
                <c:pt idx="2">
                  <c:v>1.33</c:v>
                </c:pt>
                <c:pt idx="3">
                  <c:v>5.66</c:v>
                </c:pt>
                <c:pt idx="4">
                  <c:v>1.75</c:v>
                </c:pt>
                <c:pt idx="5">
                  <c:v>7.18</c:v>
                </c:pt>
                <c:pt idx="6">
                  <c:v>11.21</c:v>
                </c:pt>
                <c:pt idx="7">
                  <c:v>28.81</c:v>
                </c:pt>
                <c:pt idx="8">
                  <c:v>7.45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02-4A27-AB30-3A69D799D8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Overtime (%)</c:v>
                </c:pt>
              </c:strCache>
            </c:strRef>
          </c:tx>
          <c:invertIfNegative val="1"/>
          <c:cat>
            <c:strRef>
              <c:f>Sheet1!$A$2:$A$10</c:f>
              <c:strCache>
                <c:ptCount val="9"/>
                <c:pt idx="0">
                  <c:v>HR</c:v>
                </c:pt>
                <c:pt idx="1">
                  <c:v>Lab Tech</c:v>
                </c:pt>
                <c:pt idx="2">
                  <c:v>Manager</c:v>
                </c:pt>
                <c:pt idx="3">
                  <c:v>Mfg Director</c:v>
                </c:pt>
                <c:pt idx="4">
                  <c:v>Research Director</c:v>
                </c:pt>
                <c:pt idx="5">
                  <c:v>Research Scientist</c:v>
                </c:pt>
                <c:pt idx="6">
                  <c:v>Sales Executive</c:v>
                </c:pt>
                <c:pt idx="7">
                  <c:v>Sales Rep</c:v>
                </c:pt>
                <c:pt idx="8">
                  <c:v>Healthcare Rep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38.46</c:v>
                </c:pt>
                <c:pt idx="1">
                  <c:v>50</c:v>
                </c:pt>
                <c:pt idx="2">
                  <c:v>14.81</c:v>
                </c:pt>
                <c:pt idx="3">
                  <c:v>10.26</c:v>
                </c:pt>
                <c:pt idx="4">
                  <c:v>4.3499999999999996</c:v>
                </c:pt>
                <c:pt idx="5">
                  <c:v>34.020000000000003</c:v>
                </c:pt>
                <c:pt idx="6">
                  <c:v>32.979999999999997</c:v>
                </c:pt>
                <c:pt idx="7">
                  <c:v>66.67</c:v>
                </c:pt>
                <c:pt idx="8">
                  <c:v>5.41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02-4A27-AB30-3A69D799D8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Non-travel</c:v>
                </c:pt>
                <c:pt idx="1">
                  <c:v>Travel rarely</c:v>
                </c:pt>
                <c:pt idx="2">
                  <c:v>Travel frequently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14.96</c:v>
                </c:pt>
                <c:pt idx="2">
                  <c:v>24.91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FE-4E15-A324-7456D1C9C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Divorced</c:v>
                </c:pt>
                <c:pt idx="1">
                  <c:v>Married</c:v>
                </c:pt>
                <c:pt idx="2">
                  <c:v>Single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10.09</c:v>
                </c:pt>
                <c:pt idx="1">
                  <c:v>12.48</c:v>
                </c:pt>
                <c:pt idx="2">
                  <c:v>25.53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9D-4F2F-BE06-B3550383C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salary hike (%)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15.23</c:v>
                </c:pt>
                <c:pt idx="1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6B-4832-BC9B-D0794810C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Avg. years since promotion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2.23</c:v>
                </c:pt>
                <c:pt idx="1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2A-48C3-9805-068284DF01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503920" y="640080"/>
            <a:ext cx="2926080" cy="914400"/>
          </a:xfrm>
          <a:prstGeom prst="round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09760" y="1828800"/>
            <a:ext cx="1920240" cy="109728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5279" y="3291840"/>
            <a:ext cx="3474720" cy="731520"/>
          </a:xfrm>
          <a:prstGeom prst="roundRect">
            <a:avLst/>
          </a:prstGeom>
          <a:solidFill>
            <a:srgbClr val="57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5440" y="4389120"/>
            <a:ext cx="2194560" cy="914400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040880" cy="1371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HR ATTRITION</a:t>
            </a:r>
            <a:br/>
            <a: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700" b="0">
                <a:solidFill>
                  <a:srgbClr val="DCE6F2"/>
                </a:solidFill>
                <a:latin typeface="Aptos"/>
              </a:defRPr>
            </a:pPr>
            <a:r>
              <a:t>Exploratory Data Analysis • Workforce Risk Signals • Business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63640"/>
            <a:ext cx="64008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0">
                <a:solidFill>
                  <a:srgbClr val="B4C3D7"/>
                </a:solidFill>
                <a:latin typeface="Aptos"/>
              </a:defRPr>
            </a:pPr>
            <a:r>
              <a:rPr dirty="0"/>
              <a:t>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The clearest observed signals are early tenure, overtime, job-role hotspots and lower job levels.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64008" cy="123444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22860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22860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1,470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78608"/>
            <a:ext cx="22860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35 original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002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600200"/>
            <a:ext cx="64008" cy="123444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84448" y="1691640"/>
            <a:ext cx="22860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EMPLOYEES WHO 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947672"/>
            <a:ext cx="22860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578608"/>
            <a:ext cx="22860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16.12% attrition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002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600200"/>
            <a:ext cx="64008" cy="1234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691640"/>
            <a:ext cx="22860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STAYED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47672"/>
            <a:ext cx="22860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1,233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578608"/>
            <a:ext cx="22860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83.88% of workforce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6002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1600200"/>
            <a:ext cx="64008" cy="123444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1691640"/>
            <a:ext cx="22860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HIGHEST ROLE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947672"/>
            <a:ext cx="22860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39.76%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578608"/>
            <a:ext cx="22860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Sales Representative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46120"/>
            <a:ext cx="10607040" cy="2468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242"/>
                </a:solidFill>
                <a:latin typeface="Aptos"/>
              </a:defRPr>
            </a:pPr>
            <a:r>
              <a:t>•  Early tenure (0–1 year): 34.88% attrition.</a:t>
            </a:r>
          </a:p>
          <a:p>
            <a:pPr>
              <a:spcAft>
                <a:spcPts val="1000"/>
              </a:spcAft>
              <a:defRPr sz="1500">
                <a:solidFill>
                  <a:srgbClr val="263242"/>
                </a:solidFill>
                <a:latin typeface="Aptos"/>
              </a:defRPr>
            </a:pPr>
            <a:r>
              <a:t>•  Overtime: 30.53% attrition vs 10.44% without overtime.</a:t>
            </a:r>
          </a:p>
          <a:p>
            <a:pPr>
              <a:spcAft>
                <a:spcPts val="1000"/>
              </a:spcAft>
              <a:defRPr sz="1500">
                <a:solidFill>
                  <a:srgbClr val="263242"/>
                </a:solidFill>
                <a:latin typeface="Aptos"/>
              </a:defRPr>
            </a:pPr>
            <a:r>
              <a:t>•  Sales Representatives have the highest role rate; Laboratory Technicians have the most departures.</a:t>
            </a:r>
          </a:p>
          <a:p>
            <a:pPr>
              <a:spcAft>
                <a:spcPts val="1000"/>
              </a:spcAft>
              <a:defRPr sz="1500">
                <a:solidFill>
                  <a:srgbClr val="263242"/>
                </a:solidFill>
                <a:latin typeface="Aptos"/>
              </a:defRPr>
            </a:pPr>
            <a:r>
              <a:t>•  These are associations in a fictional historical dataset—not proof of causes.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Dataset Overview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Descriptive analysis to profile workforce patterns and identify areas for further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21488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214884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1,470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737360"/>
            <a:ext cx="21488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993392"/>
            <a:ext cx="214884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64008" cy="1143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737360"/>
            <a:ext cx="21488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CONSTANT FIELDS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214884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459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64008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6568" y="1737360"/>
            <a:ext cx="21488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CLEAN ANALYSIS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1993392"/>
            <a:ext cx="214884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154680"/>
            <a:ext cx="10515600" cy="25603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Removed constant columns: EmployeeCount, Over18 and StandardHours.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Checked missing values, duplicate rows, EmployeeNumber uniqueness and category consistency.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No missing values or duplicate rows found; EmployeeNumber was unique.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Reviewed unusual values/outliers and retained plausible records rather than deleting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Overall Attrition &amp;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Sales has the highest department rate; R&amp;D contributes the most departures due to its larger workforce.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17373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737360"/>
            <a:ext cx="64008" cy="109728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6288" y="1828800"/>
            <a:ext cx="17830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SALES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084831"/>
            <a:ext cx="178308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20.63%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578607"/>
            <a:ext cx="1783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92 of 446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7373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1737360"/>
            <a:ext cx="64008" cy="109728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1828800"/>
            <a:ext cx="20574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R&amp;D DEPARTURES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084831"/>
            <a:ext cx="20574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578607"/>
            <a:ext cx="20574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133 of 237 exits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154680"/>
            <a:ext cx="4572000" cy="2286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Company-wide: 16.12%.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HR: 12 of 63 left (19.05%).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R&amp;D: 133 of 961 left (13.84%).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Overtime vs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The overtime group has nearly three times the observed attrition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5852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0" y="173736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1737360"/>
            <a:ext cx="64008" cy="114300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3448" y="1828800"/>
            <a:ext cx="17830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OVERTIME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084831"/>
            <a:ext cx="178308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30.53%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624328"/>
            <a:ext cx="1783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127 of 416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73736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0" y="173736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1828800"/>
            <a:ext cx="17830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NO OVERTIME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084831"/>
            <a:ext cx="178308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10.44%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624328"/>
            <a:ext cx="1783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110 of 1,054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4297680" cy="20116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Overtime group is 28.3% of employees.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It accounts for 53.6% of departures.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Audit workload, scheduling and role-specific overtime.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Job Satisfaction &amp; Work-Life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Satisfaction has a broadly inverse pattern; work-life balance is not monotonic.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55448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737360"/>
            <a:ext cx="3291840" cy="35661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Satisfaction score 1: 22.84%.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Score 4: 11.33%.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Work-life balance score 1: 31.25%.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Do not claim every improvement linearly reduces attrition.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Job Role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Sales Representatives have the highest rate; Laboratory Technicians have the largest departure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08760"/>
          <a:ext cx="71323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73736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79" y="1737360"/>
            <a:ext cx="64008" cy="109728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7" y="182880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HIGHEST ROLE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7" y="2084831"/>
            <a:ext cx="29718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39.76%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578607"/>
            <a:ext cx="29718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Sales Representative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10896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3108960"/>
            <a:ext cx="64008" cy="10972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7" y="320040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MOST DEPARTURES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3456432"/>
            <a:ext cx="29718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3950207"/>
            <a:ext cx="29718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Laboratory Technician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572000"/>
            <a:ext cx="3017520" cy="9144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t>Investigate workload, manager support and career paths before choosing interventions.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Age Group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Attrition is highest among the youngest employees and rises again in the smallest oldest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0020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78308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783080"/>
            <a:ext cx="64008" cy="109728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874519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HIGHEST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30552"/>
            <a:ext cx="29718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35.77%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624328"/>
            <a:ext cx="29718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Age 18–25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15468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154680"/>
            <a:ext cx="64008" cy="10972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32461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YOUNGEST-GROUP EXITS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502152"/>
            <a:ext cx="29718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995928"/>
            <a:ext cx="29718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44 of 123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663440"/>
            <a:ext cx="3200400" cy="8229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Age 56–60 has only 47 people; interpret its rate cautiously.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Tenure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Employees with 0–1 year at the company are the clearest retention priority.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0020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78308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783080"/>
            <a:ext cx="64008" cy="109728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874519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0–1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30552"/>
            <a:ext cx="29718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34.88%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624328"/>
            <a:ext cx="29718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75 of 215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15468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154680"/>
            <a:ext cx="64008" cy="10972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32461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11–20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502152"/>
            <a:ext cx="29718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6.67%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995928"/>
            <a:ext cx="29718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12 of 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663440"/>
            <a:ext cx="3200400" cy="8229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t>The 20+ year group rises to 12.12% (8 of 66), so the pattern is not perfectly linear.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Age × Tenure: Early Attrition Concentrates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Highest cell: age 18–25 with 0–1 year tenure (28 exits among 45 employees).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 group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0–1 yr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2–3 yr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4–5 yr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6–10 yr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11–20 yr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20+ yr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18–25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62.22%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25.58%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8.00%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30.00%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26–35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39.73%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25.23%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13.96%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36–45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19.72%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8.62%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10.11%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5.15%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6.10%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46–55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11.76%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17.39%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3.57%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56–60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22.22%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25.00%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18.18%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40.00%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892040"/>
            <a:ext cx="10607040" cy="10972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 Age 26–35 with 0–1 year tenure: 29 of 73 left (39.73%).</a:t>
            </a:r>
          </a:p>
          <a:p>
            <a:pPr>
              <a:spcAft>
                <a:spcPts val="10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 Dashes mean no employees in that cell; age 56–60 with 20+ years is only 5 people (2 exits).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Monthly Income &amp; Job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Leavers have lower average/median income; Job Level 1 accounts for most departures.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60020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17830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783080"/>
            <a:ext cx="64008" cy="109728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6288" y="1874519"/>
            <a:ext cx="178308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AVERAGE INCOME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130552"/>
            <a:ext cx="178308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−29.9%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624328"/>
            <a:ext cx="1783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Left vs stayed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78308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1783080"/>
            <a:ext cx="64008" cy="10972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1874519"/>
            <a:ext cx="20574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LEVEL 1 DEPARTURES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130552"/>
            <a:ext cx="20574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624328"/>
            <a:ext cx="205740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60.3% of exits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46120"/>
            <a:ext cx="4572000" cy="2286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 Level 1 attrition: 26.34%.</a:t>
            </a:r>
          </a:p>
          <a:p>
            <a:pPr>
              <a:spcAft>
                <a:spcPts val="10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 Level 2: 9.74%; Level 3: 14.68%.</a:t>
            </a:r>
          </a:p>
          <a:p>
            <a:pPr>
              <a:spcAft>
                <a:spcPts val="10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 Income gap may reflect role/level mix; it does not prove pay caused attrition.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Job Level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Rate captures relative risk; departure count captures operational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9164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Left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income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Attrition</a:t>
                      </a:r>
                    </a:p>
                  </a:txBody>
                  <a:tcPr>
                    <a:solidFill>
                      <a:srgbClr val="13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543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2,786.92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26.34%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5,502.28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218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9,817.25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14.68%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15,503.78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4.72%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19,191.83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42"/>
                          </a:solidFill>
                          <a:latin typeface="Aptos"/>
                        </a:defRPr>
                      </a:pPr>
                      <a:r>
                        <a:t>7.25%</a:t>
                      </a:r>
                    </a:p>
                  </a:txBody>
                  <a:tcPr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Validate whether Level 1's pattern persists after accounting for role, tenure, overtime and 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Overtime × Job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Overtime is associated with higher attrition in 8 of 9 roles.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5448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1783080"/>
            <a:ext cx="3474720" cy="36576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Sales Representative: 66.67% vs 28.81% (+37.86 pp).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Lab Technician: 50.00% vs 15.74% (+34.26 pp).</a:t>
            </a:r>
          </a:p>
          <a:p>
            <a:pPr>
              <a:spcAft>
                <a:spcPts val="1000"/>
              </a:spcAft>
              <a:defRPr sz="1300">
                <a:solidFill>
                  <a:srgbClr val="263242"/>
                </a:solidFill>
                <a:latin typeface="Aptos"/>
              </a:defRPr>
            </a:pPr>
            <a:r>
              <a:t>•  Healthcare Representative is the exception; sample size and role mix matter.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Business Travel &amp; Marital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Frequent travel and single marital status show higher observed attrition.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600200"/>
          <a:ext cx="5394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60020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715000"/>
            <a:ext cx="521208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Frequent travel: 69 of 277 employees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715000"/>
            <a:ext cx="484632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Single: 120 of 470 left; 50.6% of all departures.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Salary Hike &amp; Time Since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Differences between attrition groups are small for these two measures.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60020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60020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669280"/>
            <a:ext cx="10515600" cy="5486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3242"/>
                </a:solidFill>
                <a:latin typeface="Aptos"/>
              </a:defRPr>
            </a:pPr>
            <a:r>
              <a:t>•  Both groups have median salary hike 14% and median 1 year since last promotion.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Key Findings: What the Data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Prioritize findings that combine rate difference with actionable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114300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691640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EARLY TENURE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47672"/>
            <a:ext cx="50292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34.88% attrition; 75 exits.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600200"/>
            <a:ext cx="64008" cy="1143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691640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OVERTIME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947672"/>
            <a:ext cx="50292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30.53% vs 10.44% without overtime.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175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017520"/>
            <a:ext cx="64008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108960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SALES REPRESENTATIVES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364991"/>
            <a:ext cx="50292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39.76%—highest job-role 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017520"/>
            <a:ext cx="64008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3108960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LAB TECHNICIANS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364991"/>
            <a:ext cx="50292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62 exits—highest role count.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348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434840"/>
            <a:ext cx="64008" cy="114300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526279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JOB LEVEL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782312"/>
            <a:ext cx="50292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143 exits; 26.34% attrition.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4348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4434840"/>
            <a:ext cx="64008" cy="114300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6248" y="4526279"/>
            <a:ext cx="5029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FREQUENT TRAVEL / SINGLE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782312"/>
            <a:ext cx="502920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24.91% / 25.53% attrition.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Recommendations are hypotheses to test with HR and managers—not proven explanations.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Early-tenure retention: review 30/60/90-day onboarding, buddy support, role clarity and first-year check-ins.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Overtime: audit frequency, duration and distribution by role/team; discuss workload and scheduling.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Role-focused review: structured listening sessions with Sales Representatives and Laboratory Technicians.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Job Level 1: examine career paths, training, manager support and compensation context.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Frequent travel: assess travel burden, recovery time, notice and flexibility.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Validate patterns across relevant groups and track retention after any intervention.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900" b="1">
                <a:solidFill>
                  <a:srgbClr val="009999"/>
                </a:solidFill>
                <a:latin typeface="Aptos"/>
              </a:defRPr>
            </a:pPr>
            <a:r>
              <a:t>HR ATTRITION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500" b="1">
                <a:solidFill>
                  <a:srgbClr val="13223A"/>
                </a:solidFill>
                <a:latin typeface="Aptos"/>
              </a:defRPr>
            </a:pPr>
            <a:r>
              <a:t>Limitations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EDA identifies where to investigate next; it does not prove why employees leave.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98480" cy="2926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The IBM HR dataset is a fictional sample, not a live organization's workforce.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Results are descriptive associations; confounding factors may explain differences.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Small groups can produce unstable rates (e.g., age 56–60 with 20+ years: 5 employees).</a:t>
            </a:r>
          </a:p>
          <a:p>
            <a:pPr>
              <a:spcAft>
                <a:spcPts val="1000"/>
              </a:spcAft>
              <a:defRPr sz="1400">
                <a:solidFill>
                  <a:srgbClr val="263242"/>
                </a:solidFill>
                <a:latin typeface="Aptos"/>
              </a:defRPr>
            </a:pPr>
            <a:r>
              <a:t>•  Avoid causal conclusions without further analysis and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64008" cy="1005840"/>
          </a:xfrm>
          <a:prstGeom prst="rect">
            <a:avLst/>
          </a:prstGeom>
          <a:solidFill>
            <a:srgbClr val="D2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4983479"/>
            <a:ext cx="30632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FIRST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5239512"/>
            <a:ext cx="306324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Early tenure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641847"/>
            <a:ext cx="306324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Highest tenure-band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89204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4892040"/>
            <a:ext cx="64008" cy="100584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4983479"/>
            <a:ext cx="30632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SECOND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5239512"/>
            <a:ext cx="306324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Overtime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5641847"/>
            <a:ext cx="306324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Largest broad-group 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89204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4892040"/>
            <a:ext cx="64008" cy="10058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2168" y="4983479"/>
            <a:ext cx="306324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THIRD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5239512"/>
            <a:ext cx="3063240" cy="4389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2200" b="1">
                <a:solidFill>
                  <a:srgbClr val="13223A"/>
                </a:solidFill>
                <a:latin typeface="Aptos"/>
              </a:defRPr>
            </a:pPr>
            <a:r>
              <a:t>Role hotspots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5641847"/>
            <a:ext cx="3063240" cy="1828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Targeted investigation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1292</Words>
  <Application>Microsoft Office PowerPoint</Application>
  <PresentationFormat>Widescreen</PresentationFormat>
  <Paragraphs>272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kishan .</cp:lastModifiedBy>
  <cp:revision>2</cp:revision>
  <dcterms:created xsi:type="dcterms:W3CDTF">2013-01-27T09:14:16Z</dcterms:created>
  <dcterms:modified xsi:type="dcterms:W3CDTF">2026-10-23T14:09:24Z</dcterms:modified>
  <cp:category/>
</cp:coreProperties>
</file>