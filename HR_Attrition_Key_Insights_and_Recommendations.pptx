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EEC0DE"/>
                </a:solidFill>
                <a:latin typeface="Aptos"/>
              </a:defRPr>
            </a:pPr>
            <a:r>
              <a:t>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880360" cy="1463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KEY INSIGHTS</a:t>
            </a:r>
            <a:br/>
            <a:r>
              <a:t>&amp;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2834640" cy="5943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900" b="1">
                <a:solidFill>
                  <a:srgbClr val="EEC0DE"/>
                </a:solidFill>
                <a:latin typeface="Aptos"/>
              </a:defRPr>
            </a:pPr>
            <a:r>
              <a:t>HR ATTRITION</a:t>
            </a:r>
            <a:br/>
            <a: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234440"/>
            <a:ext cx="7132320" cy="1371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600" b="1">
                <a:solidFill>
                  <a:srgbClr val="6F2253"/>
                </a:solidFill>
                <a:latin typeface="Aptos"/>
              </a:defRPr>
            </a:pPr>
            <a:r>
              <a:t>HR ATTRITION</a:t>
            </a:r>
            <a:br/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971800"/>
            <a:ext cx="6675120" cy="5943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000" b="0">
                <a:solidFill>
                  <a:srgbClr val="311C2B"/>
                </a:solidFill>
                <a:latin typeface="Aptos"/>
              </a:defRPr>
            </a:pPr>
            <a:r>
              <a:t>From descriptive analysis to targeted retention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886200"/>
            <a:ext cx="6675120" cy="10972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600" b="0">
                <a:solidFill>
                  <a:srgbClr val="694F61"/>
                </a:solidFill>
                <a:latin typeface="Aptos"/>
              </a:defRPr>
            </a:pPr>
            <a:r>
              <a:t>A business-focused summary of the cleaned dataset, SQL analysis and Power BI dashboard—with practical hypotheses, recommendations and measurable next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5897880"/>
            <a:ext cx="67665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694F61"/>
                </a:solidFill>
                <a:latin typeface="Aptos"/>
              </a:defRPr>
            </a:pPr>
            <a:r>
              <a:t>Note: IBM-style sample dataset with fictional employee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01 • THE STORY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EMPLOYEES ANALYSED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Unique employee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EMPLOYEES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16.12% overall attrition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OVERTIME: 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30.53%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vs 10.44% without overtime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TENURE: 0–1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34.88%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Highest tenure-band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71800"/>
            <a:ext cx="525780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3003804"/>
            <a:ext cx="507492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THE ANALYSIS SUGGESTS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50749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Attrition is unevenly distributed across roles and employee groups.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Overtime, early tenure, younger age, Sales Representative roles and single status show higher observed rates.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Lower income among leavers is an association, not proof that pay caused exits.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25780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507492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BUSINESS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50292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Start with workload and early-tenure retention checks.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Validate patterns with employees and managers before changing policy.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Track outcomes over time; 16.12% is a descriptive baseline, not a promised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02 • ESTABLISH TRUST BEFORE INTERPRETING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Project scope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1,470 ×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Rows ×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701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1,470 × 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3 constant fields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Validated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371600"/>
            <a:ext cx="256032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34856" y="1481328"/>
            <a:ext cx="2304287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755648"/>
            <a:ext cx="2304287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267712"/>
            <a:ext cx="2304287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Cleaned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971800"/>
            <a:ext cx="521208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003804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29000"/>
            <a:ext cx="502920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Removed EmployeeCount, Over18 and StandardHours as non-informative constant fields.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EmployeeNumber is unique across all 1,470 records.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Outcome split: 237 Attrition = Yes; 1,233 Attrition = No.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21208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INTERPRETATION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498348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The dataset is fictional, not a live company's workforce.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Group comparisons show association, not causation.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Small subgroups can produce unstable rates; validate with current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03 • WORKLOAD &amp; ROLE-LEVEL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Insight 1 • Overtime is a major risk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OVERTIME: 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30.53%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127 of 416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OVERTIME: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10.44%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110 of 1,054 employees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RATE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+20.09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Observed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0625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SALES REP + 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66.67%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Role × overtime subgroup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49834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rPr dirty="0"/>
              <a:t>•  Overtime group's rate is nearly 3× the non-overtime group's rate.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rPr dirty="0"/>
              <a:t>•  The gap is especially large for Sales Representatives (+37.86 percentage points) and Lab Technicians (+34.26 pp).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rPr dirty="0"/>
              <a:t>•  This is a workload signal to investigate, not proof overtime alone causes exits.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49377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Audit overtime hours, staffing, consecutive overtime weeks and workload peaks by role.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Pilot workload balancing and recovery-time practices in selected teams.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Use confidential feedback to understand workload, schedule control and manager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04 • ONBOARDING &amp; EARLY-CAREER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Insight 2 • Early tenure needs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TENURE: 0–1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34.88%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75 of 215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TENURE: 11–20 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6.67%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12 of 180 employees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AGE: 18–25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35.77%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44 of 123 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0625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AGE 18–25 + 0–1 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62.22%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28 of 45; small subgroup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498348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First-year employees have the highest tenure-band attrition rate.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The 18–25 age group also has the highest age-band rate; these factors may overlap.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The combined subgroup has only 45 people, so treat 62.22% cautiously.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493776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Introduce 30/60/90-day check-ins and structured onboarding.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Assign a buddy/mentor; clarify expectations, training milestones and success measures.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Review early exits by manager, role and hiring cohort to find fixable friction.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05 • TARGET ACTION WHERE THE SIGNAL IS STRONGEST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Insight 3 • Risk differs by role and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SALES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20.63%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92 of 446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R&amp;D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13.84%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133 of 961 employees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SALES REPRESENTATIVE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39.76%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33 of 83 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0625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LAB TECHNICIAN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23.94%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62 of 259 employees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498348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Sales has the highest department rate; R&amp;D has the largest exit count because it is much larger.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Sales Representatives have the highest role-level rate, followed by Lab Technicians.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Rates and headcounts tell different stories; consider both risk and business impact.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493776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Run role-specific stay interviews with Sales Representatives and Lab Technicians.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Explore targets, shifts, training, manager support and career progression.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Review Sales workload and R&amp;D retention at scale; do not infer low impact from a lower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06 • READ PATTERNS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Insight 4 • Employee experience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30352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03604"/>
            <a:ext cx="51206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OBSERVED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166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Job Satisfaction rating 1: 22.84%; rating 4: 11.33%. Higher satisfaction is associated with lower attrition in this sample.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Work-Life Balance rating 1: 31.25%; ratings 2–4 are non-monotonic.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Travel Frequently: 24.91%; Travel Rarely: 14.96%; Non-Travel: 8.00%.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Single employees: 25.53%; Married: 12.48%; Divorced: 10.09%.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403604"/>
            <a:ext cx="51206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0749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Use confidential pulse surveys and manager conversations to understand satisfaction drivers.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Investigate travel frequency, trip length, predictability and recovery time.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Offer flexible support and development; do not treat marital status as a cause or use it for adverse decisions.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Check group sizes and confounding factors before interpreting work-life balance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07 • AVOID SIMPLISTIC PAY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Insight 5 • Income and job level need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AVG INCOME: STAYED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6,833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Median 5,204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AVG INCOME: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4,787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Median 3,202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AVERAGE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−29.9%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Leavers vs stayers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71600"/>
            <a:ext cx="2468880" cy="12070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06256" y="1481328"/>
            <a:ext cx="2212848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1">
                <a:solidFill>
                  <a:srgbClr val="694F61"/>
                </a:solidFill>
                <a:latin typeface="Aptos"/>
              </a:defRPr>
            </a:pPr>
            <a:r>
              <a:t>JOB LEVEL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755648"/>
            <a:ext cx="2212848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6F2253"/>
                </a:solidFill>
                <a:latin typeface="Aptos"/>
              </a:defRPr>
            </a:pPr>
            <a:r>
              <a:t>26.34%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267712"/>
            <a:ext cx="2212848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143 of 543 employees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498348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Leavers have lower average and median monthly income in this dataset.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Job Level 1 has the highest level-specific rate and accounts for about 60.3% of exits.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Average salary hike is similar: 15.10 for leavers vs 15.23 for stayers.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7180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300380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493776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Review pay competitiveness and internal equity by role, level, tenure and performance.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Clarify progression paths, required skills and development access for Level 1 employees.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Test income alongside role, tenure, overtime, satisfaction and manager factors.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08 • TURN FINDINGS INTO CONTROLLED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Prioritized retention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41732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357884"/>
            <a:ext cx="12344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325880"/>
            <a:ext cx="365760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1357884"/>
            <a:ext cx="347472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25880"/>
            <a:ext cx="160020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357884"/>
            <a:ext cx="141732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25880"/>
            <a:ext cx="384048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1357884"/>
            <a:ext cx="36576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810512"/>
            <a:ext cx="141732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1874519"/>
            <a:ext cx="127101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6F2253"/>
                </a:solidFill>
                <a:latin typeface="Aptos"/>
              </a:defRPr>
            </a:pPr>
            <a:r>
              <a:t>P1 • 0–90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810512"/>
            <a:ext cx="36576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21992" y="1874519"/>
            <a:ext cx="35112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Stay interviews; workload/overtime review in Sales Rep and Lab Tech teams.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810512"/>
            <a:ext cx="16002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1874519"/>
            <a:ext cx="14538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HR + managers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810512"/>
            <a:ext cx="384048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1874519"/>
            <a:ext cx="369417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Overtime exposure, pulse scores, attrition by role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633472"/>
            <a:ext cx="141732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2697479"/>
            <a:ext cx="127101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6F2253"/>
                </a:solidFill>
                <a:latin typeface="Aptos"/>
              </a:defRPr>
            </a:pPr>
            <a:r>
              <a:t>P1 • 0–90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2633472"/>
            <a:ext cx="365760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21992" y="2697479"/>
            <a:ext cx="35112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Strengthen 30/60/90-day onboarding and early-tenure check-ins.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633472"/>
            <a:ext cx="160020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16752" y="2697479"/>
            <a:ext cx="14538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Talent / HR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633472"/>
            <a:ext cx="384048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08392" y="2697479"/>
            <a:ext cx="369417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90-day retention, new-hire feedback, first-year attrition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141732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3520439"/>
            <a:ext cx="127101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6F2253"/>
                </a:solidFill>
                <a:latin typeface="Aptos"/>
              </a:defRPr>
            </a:pPr>
            <a:r>
              <a:t>P2 • 1–3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456432"/>
            <a:ext cx="36576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1992" y="3520439"/>
            <a:ext cx="35112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Review Level 1 progression, training access and pay equity.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456432"/>
            <a:ext cx="16002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3520439"/>
            <a:ext cx="14538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Compensation + L&amp;D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456432"/>
            <a:ext cx="384048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8392" y="3520439"/>
            <a:ext cx="369417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Internal moves, training completion, retention by level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79392"/>
            <a:ext cx="141732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1" y="4343400"/>
            <a:ext cx="127101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6F2253"/>
                </a:solidFill>
                <a:latin typeface="Aptos"/>
              </a:defRPr>
            </a:pPr>
            <a:r>
              <a:t>P2 • 1–3 months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4279392"/>
            <a:ext cx="365760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21992" y="4343400"/>
            <a:ext cx="35112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Review frequent-travel workload and recovery practices.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4279392"/>
            <a:ext cx="160020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16752" y="4343400"/>
            <a:ext cx="14538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4279392"/>
            <a:ext cx="3840480" cy="749808"/>
          </a:xfrm>
          <a:prstGeom prst="roundRect">
            <a:avLst/>
          </a:prstGeom>
          <a:solidFill>
            <a:srgbClr val="F5E0EF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08392" y="4343400"/>
            <a:ext cx="369417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Travel frequency, pulse scores, attrition by travel band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102352"/>
            <a:ext cx="141732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1" y="5166360"/>
            <a:ext cx="127101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6F2253"/>
                </a:solidFill>
                <a:latin typeface="Aptos"/>
              </a:defRPr>
            </a:pPr>
            <a:r>
              <a:t>P3 • Ongoing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5102352"/>
            <a:ext cx="36576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21992" y="5166360"/>
            <a:ext cx="35112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Create monthly attrition monitoring with rates, counts and cohort trends.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5102352"/>
            <a:ext cx="160020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16752" y="5166360"/>
            <a:ext cx="145389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People Analytics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35240" y="5102352"/>
            <a:ext cx="3840480" cy="749808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08392" y="5166360"/>
            <a:ext cx="3694176" cy="6126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100" b="0">
                <a:solidFill>
                  <a:srgbClr val="311C2B"/>
                </a:solidFill>
                <a:latin typeface="Aptos"/>
              </a:defRPr>
            </a:pPr>
            <a:r>
              <a:t>Overall and segment rates; headcount; cohort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6F2253"/>
                </a:solidFill>
                <a:latin typeface="Aptos"/>
              </a:defRPr>
            </a:pPr>
            <a:r>
              <a:t>Pilot first, listen to employees, measure honestly, and scale only what the evidence supports.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09 • BASELINE FIRST; COMPARE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How to measure whether actions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30352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03604"/>
            <a:ext cx="51206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CORE DASHBOARD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166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Overall attrition rate and voluntary attrition where exit reason exists.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First-year attrition and 90-day retention by hiring cohort.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Rates by department, role, tenure, overtime and travel frequency.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Report counts and rates together, with sample sizes.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Use consistent definitions and period-to-period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403604"/>
            <a:ext cx="51206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EVALUATION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0749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Record a baseline before interventions and define a review period.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Compare pilot teams with similar non-pilot teams where feasible.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Watch for unintended effects such as overtime shifting to another team.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Use confidential employee feedback alongside HR metrics.</a:t>
            </a:r>
          </a:p>
          <a:p>
            <a:pPr>
              <a:spcAft>
                <a:spcPts val="1000"/>
              </a:spcAft>
              <a:defRPr sz="1400">
                <a:solidFill>
                  <a:srgbClr val="311C2B"/>
                </a:solidFill>
                <a:latin typeface="Aptos"/>
              </a:defRPr>
            </a:pPr>
            <a:r>
              <a:t>•  Set numerical targets only after business context is reviewed.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10 • A PRACTICAL 30 / 60 / 90-DAY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520440" cy="4297680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089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A6307D"/>
                </a:solidFill>
                <a:latin typeface="Aptos"/>
              </a:defRPr>
            </a:pPr>
            <a:r>
              <a:t>FIRST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100" b="1">
                <a:solidFill>
                  <a:srgbClr val="6F2253"/>
                </a:solidFill>
                <a:latin typeface="Aptos"/>
              </a:defRPr>
            </a:pPr>
            <a:r>
              <a:t>Validate &amp; 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43200"/>
            <a:ext cx="3154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Validate current HR data and exit definitions.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Speak with employees/managers in high-signal roles.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Review overtime, onboarding and travel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520440" cy="4297680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31089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A6307D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108960" cy="4572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100" b="1">
                <a:solidFill>
                  <a:srgbClr val="6F2253"/>
                </a:solidFill>
                <a:latin typeface="Aptos"/>
              </a:defRPr>
            </a:pPr>
            <a:r>
              <a:t>Pilot interventions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43200"/>
            <a:ext cx="3154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Launch 30/60/90-day onboarding check-ins.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Pilot workload balancing in selected teams.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Publish Level 1 career and skill pathways.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54480"/>
            <a:ext cx="3520440" cy="4297680"/>
          </a:xfrm>
          <a:prstGeom prst="roundRect">
            <a:avLst/>
          </a:prstGeom>
          <a:solidFill>
            <a:srgbClr val="FFFAFD"/>
          </a:solidFill>
          <a:ln>
            <a:solidFill>
              <a:srgbClr val="E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83080"/>
            <a:ext cx="31089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A6307D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108960" cy="4572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100" b="1">
                <a:solidFill>
                  <a:srgbClr val="6F2253"/>
                </a:solidFill>
                <a:latin typeface="Aptos"/>
              </a:defRPr>
            </a:pPr>
            <a:r>
              <a:t>Evaluate &amp;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743200"/>
            <a:ext cx="3154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Compare outcomes with baseline.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Document what worked and what did not.</a:t>
            </a:r>
          </a:p>
          <a:p>
            <a:pPr>
              <a:spcAft>
                <a:spcPts val="1000"/>
              </a:spcAft>
              <a:defRPr sz="1300">
                <a:solidFill>
                  <a:srgbClr val="311C2B"/>
                </a:solidFill>
                <a:latin typeface="Aptos"/>
              </a:defRPr>
            </a:pPr>
            <a:r>
              <a:t>•  Scale only interventions supported by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1">
                <a:solidFill>
                  <a:srgbClr val="6F2253"/>
                </a:solidFill>
                <a:latin typeface="Aptos"/>
              </a:defRPr>
            </a:pPr>
            <a:r>
              <a:t>Guiding principle: diagnose with employees, test small, measure honestly, and scale what 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3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1">
                <a:solidFill>
                  <a:srgbClr val="A6307D"/>
                </a:solidFill>
                <a:latin typeface="Aptos"/>
              </a:defRPr>
            </a:pPr>
            <a:r>
              <a:t>11 • EVIDENCE-LED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3035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6F2253"/>
                </a:solidFill>
                <a:latin typeface="Aptos"/>
              </a:defRPr>
            </a:pPr>
            <a:r>
              <a:t>Final takeaway &amp;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694F6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6858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400" b="1">
                <a:solidFill>
                  <a:srgbClr val="6F2253"/>
                </a:solidFill>
                <a:latin typeface="Aptos"/>
              </a:defRPr>
            </a:pPr>
            <a:r>
              <a:t>The strongest next move is targeted investigation—not a blanket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7228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THIS PROJECT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9834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Cleaned and validated sample dataset plus SQL analysis.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Two-page Power BI dashboard with KPIs, segment analysis and slicers.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Evidence-based hypotheses and a prioritized action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40280"/>
            <a:ext cx="5166360" cy="329184"/>
          </a:xfrm>
          <a:prstGeom prst="roundRect">
            <a:avLst/>
          </a:prstGeom>
          <a:solidFill>
            <a:srgbClr val="6F2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272284"/>
            <a:ext cx="49834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IT DOES NOT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9834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It does not establish why any individual left.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It does not prove overtime, pay, age or marital status causes attrition.</a:t>
            </a:r>
          </a:p>
          <a:p>
            <a:pPr>
              <a:spcAft>
                <a:spcPts val="1000"/>
              </a:spcAft>
              <a:defRPr sz="1500">
                <a:solidFill>
                  <a:srgbClr val="311C2B"/>
                </a:solidFill>
                <a:latin typeface="Aptos"/>
              </a:defRPr>
            </a:pPr>
            <a:r>
              <a:t>•  Do not use these patterns to profile individuals or make adverse employment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69848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400" b="1">
                <a:solidFill>
                  <a:srgbClr val="2D7A5B"/>
                </a:solidFill>
                <a:latin typeface="Aptos"/>
              </a:defRPr>
            </a:pPr>
            <a:r>
              <a:t>Use the findings to improve working conditions and employee support—not to label employees as certain to leave.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1577</Words>
  <Application>Microsoft Office PowerPoint</Application>
  <PresentationFormat>Widescreen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Analytics — Key Insights &amp; Recommendations</dc:title>
  <dc:subject>Business insights and retention recommendations based on EDA, SQL and Power BI</dc:subject>
  <dc:creator>OpenAI</dc:creator>
  <cp:keywords/>
  <dc:description>generated using python-pptx</dc:description>
  <cp:lastModifiedBy>kishan .</cp:lastModifiedBy>
  <cp:revision>2</cp:revision>
  <dcterms:created xsi:type="dcterms:W3CDTF">2013-01-27T09:14:16Z</dcterms:created>
  <dcterms:modified xsi:type="dcterms:W3CDTF">2026-10-23T14:13:04Z</dcterms:modified>
  <cp:category/>
</cp:coreProperties>
</file>